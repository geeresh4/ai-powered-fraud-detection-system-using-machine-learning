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31AB-3CF3-AE6E-D236-EA035BE021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6F662F-CC53-95F6-02B5-BBBAE5AC1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F73261-487C-4564-C204-DDBD19B9EB40}"/>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BABB884C-875A-5C8C-4C45-2E1800E8C5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F5A37-028C-3ABC-5A15-6345F7A6377A}"/>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758641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CB2F8-B4D9-ED46-3C4F-329E3EDDC3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32D0B9-38F5-8A36-B295-496E6E0D47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09DE81-EBF1-D562-5802-3A68C59AEA1E}"/>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6423F567-0B48-4688-326E-2E6F6D3652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040ABA-9F08-6BE0-9CAD-4721962F23F0}"/>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302261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8D373-1A75-5CD0-A6F2-37076E66C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7F88A7-314D-C1B5-90A0-1FB25979CE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03FE95-BE94-EF2F-63EB-009664481CEE}"/>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08BC0E61-2B85-3825-5AD6-E446705207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35B266-A6E8-0BD9-CE03-35820A6EC624}"/>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379165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B9D3-DF12-1266-025A-A4FE625926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7B72C0-0836-2668-8B5B-81409255AA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B40462-91C4-9284-7572-E042EF8F1E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8A51D4-A938-035D-4EE2-0052CE06E149}"/>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6" name="Footer Placeholder 5">
            <a:extLst>
              <a:ext uri="{FF2B5EF4-FFF2-40B4-BE49-F238E27FC236}">
                <a16:creationId xmlns:a16="http://schemas.microsoft.com/office/drawing/2014/main" id="{0CC2B1E8-9D13-CF02-92EE-511D8B11D1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5262B6-27F0-0521-71F0-FCAF2974444F}"/>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119308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65716-D70C-E89F-4445-E1D5B4C7C0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7C959A-C02D-B792-F3A3-8DCD445BE2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D98A79-1CAE-B9D7-5607-A6517A8AC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98C0DC-6DDF-B92B-D126-8C91F417D0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2EDEA5-D209-D272-BBD7-E0B654E12B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558557-7EA6-8067-B0ED-42B961D6DD17}"/>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8" name="Footer Placeholder 7">
            <a:extLst>
              <a:ext uri="{FF2B5EF4-FFF2-40B4-BE49-F238E27FC236}">
                <a16:creationId xmlns:a16="http://schemas.microsoft.com/office/drawing/2014/main" id="{25546466-4F42-BC0F-415F-18215FEB6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8D9A60-3497-D5CF-EE2C-10391ADC1557}"/>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1599487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1788E-0C10-210E-6DB9-D3688F7FE9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6CD2CB-2B4F-0511-298F-F766B63D0927}"/>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4" name="Footer Placeholder 3">
            <a:extLst>
              <a:ext uri="{FF2B5EF4-FFF2-40B4-BE49-F238E27FC236}">
                <a16:creationId xmlns:a16="http://schemas.microsoft.com/office/drawing/2014/main" id="{C59769E6-85D7-0974-50E5-BCA363E499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4F7E4E-3E8D-64FC-99C7-E0F2A929A6FA}"/>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412434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182BA-020B-4952-2494-CF5CF7750782}"/>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3" name="Footer Placeholder 2">
            <a:extLst>
              <a:ext uri="{FF2B5EF4-FFF2-40B4-BE49-F238E27FC236}">
                <a16:creationId xmlns:a16="http://schemas.microsoft.com/office/drawing/2014/main" id="{DF4F5A92-E411-9256-DE98-DD2CFA6F175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17F21D-EB07-6573-1091-EA458D69DC2E}"/>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1279784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429E9-F2D8-0D85-A565-A8D0EDCCB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AAEF36-C470-0FD3-5FFB-1B8CFD4BCF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CD2217-1E64-8AC3-78F5-4E25318F1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2098B-D60A-52F9-4D90-1265DCBD6264}"/>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6" name="Footer Placeholder 5">
            <a:extLst>
              <a:ext uri="{FF2B5EF4-FFF2-40B4-BE49-F238E27FC236}">
                <a16:creationId xmlns:a16="http://schemas.microsoft.com/office/drawing/2014/main" id="{62975EE0-CFFC-8A84-AC9B-2C68E2D78C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586701-DFF3-9BB8-4F4F-B7D4D2F3C684}"/>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1073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14DA-DD16-9597-37E3-C79EC51CBF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342FB3-C7D0-A503-A6E7-0B5CE48D93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64756AD-BE6C-71DB-DBDE-BF09FE9F2E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B1CB5-D751-25B5-8146-78611207FB45}"/>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6" name="Footer Placeholder 5">
            <a:extLst>
              <a:ext uri="{FF2B5EF4-FFF2-40B4-BE49-F238E27FC236}">
                <a16:creationId xmlns:a16="http://schemas.microsoft.com/office/drawing/2014/main" id="{88294949-BD0F-2D48-9498-799F9317C7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0640D3-77A6-4C1A-DB2F-D76C23B3D841}"/>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2339614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492A-8F50-7AAC-49A4-7E38EC19FA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E33AE0-8C6D-7C6B-B2E7-E72C0EA1F5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00181-D376-DBC1-0388-3A449A219483}"/>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C493CD53-C0EF-1100-0BC7-FEC04DD5C2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B09606-844F-EC39-278B-D88204B59909}"/>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901644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DB0197-C448-E133-7DF5-52925612C1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527209-51AB-DF2E-DA0E-022055F5B3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2D299C-1CB0-4025-3221-EF26F86FDE63}"/>
              </a:ext>
            </a:extLst>
          </p:cNvPr>
          <p:cNvSpPr>
            <a:spLocks noGrp="1"/>
          </p:cNvSpPr>
          <p:nvPr>
            <p:ph type="dt" sz="half" idx="10"/>
          </p:nvPr>
        </p:nvSpPr>
        <p:spPr/>
        <p:txBody>
          <a:body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D19C640F-0DFF-38DA-A431-084BED0FCB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04C08-5769-3C50-5ADF-5A888F9012A4}"/>
              </a:ext>
            </a:extLst>
          </p:cNvPr>
          <p:cNvSpPr>
            <a:spLocks noGrp="1"/>
          </p:cNvSpPr>
          <p:nvPr>
            <p:ph type="sldNum" sz="quarter" idx="12"/>
          </p:nvPr>
        </p:nvSpPr>
        <p:spPr/>
        <p:txBody>
          <a:bodyPr/>
          <a:lstStyle/>
          <a:p>
            <a:fld id="{919D6262-B6AB-4B23-BFA6-ED3D96A7BF24}" type="slidenum">
              <a:rPr lang="en-IN" smtClean="0"/>
              <a:t>‹#›</a:t>
            </a:fld>
            <a:endParaRPr lang="en-IN"/>
          </a:p>
        </p:txBody>
      </p:sp>
    </p:spTree>
    <p:extLst>
      <p:ext uri="{BB962C8B-B14F-4D97-AF65-F5344CB8AC3E}">
        <p14:creationId xmlns:p14="http://schemas.microsoft.com/office/powerpoint/2010/main" val="1009753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2AC90A-D416-B818-506F-3CF0BF9642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43F7C9-992E-571B-4833-1388B4689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0F98B-68C2-4C87-FED4-EAFD4B43A6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2183F5-801F-437A-84C8-58734B4D09BE}" type="datetimeFigureOut">
              <a:rPr lang="en-IN" smtClean="0"/>
              <a:t>10-12-2025</a:t>
            </a:fld>
            <a:endParaRPr lang="en-IN"/>
          </a:p>
        </p:txBody>
      </p:sp>
      <p:sp>
        <p:nvSpPr>
          <p:cNvPr id="5" name="Footer Placeholder 4">
            <a:extLst>
              <a:ext uri="{FF2B5EF4-FFF2-40B4-BE49-F238E27FC236}">
                <a16:creationId xmlns:a16="http://schemas.microsoft.com/office/drawing/2014/main" id="{E318A9EE-91F8-FB66-B1DE-98CB1470E1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3F09719-CD52-4733-EEF1-8D17C1A2D0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9D6262-B6AB-4B23-BFA6-ED3D96A7BF24}" type="slidenum">
              <a:rPr lang="en-IN" smtClean="0"/>
              <a:t>‹#›</a:t>
            </a:fld>
            <a:endParaRPr lang="en-IN"/>
          </a:p>
        </p:txBody>
      </p:sp>
    </p:spTree>
    <p:extLst>
      <p:ext uri="{BB962C8B-B14F-4D97-AF65-F5344CB8AC3E}">
        <p14:creationId xmlns:p14="http://schemas.microsoft.com/office/powerpoint/2010/main" val="2100399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FA83-D869-B8D7-DD14-FC2CD4C82E84}"/>
              </a:ext>
            </a:extLst>
          </p:cNvPr>
          <p:cNvSpPr>
            <a:spLocks noGrp="1"/>
          </p:cNvSpPr>
          <p:nvPr>
            <p:ph type="ctrTitle"/>
          </p:nvPr>
        </p:nvSpPr>
        <p:spPr>
          <a:xfrm>
            <a:off x="1524000" y="1122363"/>
            <a:ext cx="9144000" cy="3803598"/>
          </a:xfrm>
        </p:spPr>
        <p:txBody>
          <a:bodyPr>
            <a:normAutofit/>
          </a:bodyPr>
          <a:lstStyle/>
          <a:p>
            <a:r>
              <a:rPr lang="en-US" dirty="0"/>
              <a:t>MULTITYPE FRAUD DETECTION IN E-COMMERCE TRANSACTIONS USING MACHINE LEARNING</a:t>
            </a:r>
            <a:endParaRPr lang="en-IN" dirty="0"/>
          </a:p>
        </p:txBody>
      </p:sp>
    </p:spTree>
    <p:extLst>
      <p:ext uri="{BB962C8B-B14F-4D97-AF65-F5344CB8AC3E}">
        <p14:creationId xmlns:p14="http://schemas.microsoft.com/office/powerpoint/2010/main" val="3701380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5C82-4A90-71A8-48C9-9835E8529389}"/>
              </a:ext>
            </a:extLst>
          </p:cNvPr>
          <p:cNvSpPr>
            <a:spLocks noGrp="1"/>
          </p:cNvSpPr>
          <p:nvPr>
            <p:ph type="title"/>
          </p:nvPr>
        </p:nvSpPr>
        <p:spPr/>
        <p:txBody>
          <a:bodyPr/>
          <a:lstStyle/>
          <a:p>
            <a:r>
              <a:rPr lang="en-US" b="1" dirty="0"/>
              <a:t>ABSTRACT</a:t>
            </a:r>
            <a:br>
              <a:rPr lang="en-US" b="1" dirty="0"/>
            </a:br>
            <a:endParaRPr lang="en-IN" dirty="0"/>
          </a:p>
        </p:txBody>
      </p:sp>
      <p:sp>
        <p:nvSpPr>
          <p:cNvPr id="3" name="Content Placeholder 2">
            <a:extLst>
              <a:ext uri="{FF2B5EF4-FFF2-40B4-BE49-F238E27FC236}">
                <a16:creationId xmlns:a16="http://schemas.microsoft.com/office/drawing/2014/main" id="{223759F0-D12D-1409-A0CA-985922811CBD}"/>
              </a:ext>
            </a:extLst>
          </p:cNvPr>
          <p:cNvSpPr>
            <a:spLocks noGrp="1"/>
          </p:cNvSpPr>
          <p:nvPr>
            <p:ph idx="1"/>
          </p:nvPr>
        </p:nvSpPr>
        <p:spPr>
          <a:xfrm>
            <a:off x="688258" y="796413"/>
            <a:ext cx="10665542" cy="5380550"/>
          </a:xfrm>
        </p:spPr>
        <p:txBody>
          <a:bodyPr>
            <a:normAutofit fontScale="85000" lnSpcReduction="10000"/>
          </a:bodyPr>
          <a:lstStyle/>
          <a:p>
            <a:pPr marL="0" indent="0">
              <a:buNone/>
            </a:pPr>
            <a:endParaRPr lang="en-US" sz="2000" b="1" dirty="0"/>
          </a:p>
          <a:p>
            <a:pPr algn="just">
              <a:lnSpc>
                <a:spcPct val="150000"/>
              </a:lnSpc>
            </a:pPr>
            <a:r>
              <a:rPr lang="en-US" sz="2000" dirty="0">
                <a:latin typeface="Times New Roman" panose="02020603050405020304" pitchFamily="18" charset="0"/>
                <a:cs typeface="Times New Roman" panose="02020603050405020304" pitchFamily="18" charset="0"/>
              </a:rPr>
              <a:t>E-commerce platforms have witnessed rapid growth in recent years, accompanied by a significant rise in fraudulent activities across multiple categories such as payment fraud, identity theft, refund fraud, promotion abuse, account takeover, and synthetic account creation. Traditional rule-based and single-model fraud detection systems struggle to keep pace with evolving fraud patterns, resulting in reduced accuracy and high false-positive rates. This project presents a machine-learning-based multitype fraud detection framework that integrates advanced classification algorithms to improve fraud identification in digital transactions. The system utilizes Random Forest as the existing baseline model and implements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a stacking ensemble as enhanced detection mechanisms. The workflow includes dataset uploading, preprocessing, feature encoding, model training, evaluation, and real-time fraud prediction through a Django-based interface. Experimental results demonstrate that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stacking classifiers outperform the baseline model in precision, recall, and overall detection accuracy, particularly for minority fraud classes. The proposed system provides a scalable, robust, and intelligent fraud detection solution capable of effectively identifying diverse fraud types and enhancing security in modern e-commerce environments.</a:t>
            </a:r>
          </a:p>
          <a:p>
            <a:endParaRPr lang="en-IN" sz="2000" dirty="0"/>
          </a:p>
        </p:txBody>
      </p:sp>
    </p:spTree>
    <p:extLst>
      <p:ext uri="{BB962C8B-B14F-4D97-AF65-F5344CB8AC3E}">
        <p14:creationId xmlns:p14="http://schemas.microsoft.com/office/powerpoint/2010/main" val="115096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FBC2D-8D6B-49DE-AA0B-48D8E527DF80}"/>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F9A95D6-1E4D-BCCF-7772-232B1C77D93A}"/>
              </a:ext>
            </a:extLst>
          </p:cNvPr>
          <p:cNvSpPr>
            <a:spLocks noGrp="1"/>
          </p:cNvSpPr>
          <p:nvPr>
            <p:ph idx="1"/>
          </p:nvPr>
        </p:nvSpPr>
        <p:spPr/>
        <p:txBody>
          <a:bodyPr>
            <a:normAutofit lnSpcReduction="10000"/>
          </a:bodyPr>
          <a:lstStyle/>
          <a:p>
            <a:r>
              <a:rPr lang="en-US" dirty="0"/>
              <a:t>E-commerce has grown rapidly, leading to an increase in fraudulent activities.</a:t>
            </a:r>
          </a:p>
          <a:p>
            <a:r>
              <a:rPr lang="en-US" dirty="0"/>
              <a:t>Fraud occurs in multiple forms: payment fraud, identity theft, account takeover, promotion abuse, refund fraud, etc.</a:t>
            </a:r>
          </a:p>
          <a:p>
            <a:r>
              <a:rPr lang="en-US" dirty="0"/>
              <a:t>Traditional systems fail due to evolving patterns and high false positives.</a:t>
            </a:r>
          </a:p>
          <a:p>
            <a:r>
              <a:rPr lang="en-US" dirty="0"/>
              <a:t>Machine Learning provides scalable, accurate, and automated fraud detection.</a:t>
            </a:r>
          </a:p>
          <a:p>
            <a:r>
              <a:rPr lang="en-US" dirty="0"/>
              <a:t>This project develops a multi-type fraud detection system using ML models.</a:t>
            </a:r>
          </a:p>
          <a:p>
            <a:pPr>
              <a:lnSpc>
                <a:spcPct val="160000"/>
              </a:lnSpc>
            </a:pPr>
            <a:endParaRPr lang="en-IN" sz="1800" dirty="0"/>
          </a:p>
        </p:txBody>
      </p:sp>
    </p:spTree>
    <p:extLst>
      <p:ext uri="{BB962C8B-B14F-4D97-AF65-F5344CB8AC3E}">
        <p14:creationId xmlns:p14="http://schemas.microsoft.com/office/powerpoint/2010/main" val="523876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1B94-BAB5-3FD1-4042-5625E692F0F4}"/>
              </a:ext>
            </a:extLst>
          </p:cNvPr>
          <p:cNvSpPr>
            <a:spLocks noGrp="1"/>
          </p:cNvSpPr>
          <p:nvPr>
            <p:ph type="title"/>
          </p:nvPr>
        </p:nvSpPr>
        <p:spPr/>
        <p:txBody>
          <a:bodyPr/>
          <a:lstStyle/>
          <a:p>
            <a:r>
              <a:rPr lang="en-IN" dirty="0"/>
              <a:t>Problem Statement</a:t>
            </a:r>
          </a:p>
        </p:txBody>
      </p:sp>
      <p:sp>
        <p:nvSpPr>
          <p:cNvPr id="4" name="Rectangle 1">
            <a:extLst>
              <a:ext uri="{FF2B5EF4-FFF2-40B4-BE49-F238E27FC236}">
                <a16:creationId xmlns:a16="http://schemas.microsoft.com/office/drawing/2014/main" id="{A33B409D-12A7-7BD3-8053-51EC5D9DE1A3}"/>
              </a:ext>
            </a:extLst>
          </p:cNvPr>
          <p:cNvSpPr>
            <a:spLocks noGrp="1" noChangeArrowheads="1"/>
          </p:cNvSpPr>
          <p:nvPr>
            <p:ph idx="1"/>
          </p:nvPr>
        </p:nvSpPr>
        <p:spPr bwMode="auto">
          <a:xfrm>
            <a:off x="668594" y="1956113"/>
            <a:ext cx="11100619"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fraud detection systems cannot adapt to multiple fraud categories.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Imbalanced datasets make it difficult to detect small but critical fraud classes.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Rule-based and basic ML models like Random Forest often misclassify complex patterns.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fraud verification is slow and inefficient.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 scalable, accurate, automatic multi-type fraud detection system.</a:t>
            </a:r>
          </a:p>
        </p:txBody>
      </p:sp>
    </p:spTree>
    <p:extLst>
      <p:ext uri="{BB962C8B-B14F-4D97-AF65-F5344CB8AC3E}">
        <p14:creationId xmlns:p14="http://schemas.microsoft.com/office/powerpoint/2010/main" val="394207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CCE6-3CB8-BE52-C5BA-21044AE0F747}"/>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3CD298FD-B782-9298-3091-3295B118F808}"/>
              </a:ext>
            </a:extLst>
          </p:cNvPr>
          <p:cNvSpPr>
            <a:spLocks noGrp="1" noChangeArrowheads="1"/>
          </p:cNvSpPr>
          <p:nvPr>
            <p:ph idx="1"/>
          </p:nvPr>
        </p:nvSpPr>
        <p:spPr bwMode="auto">
          <a:xfrm>
            <a:off x="648929" y="1674026"/>
            <a:ext cx="10409327" cy="307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multiple types of e-commerce fraud using ML algorithms.</a:t>
            </a:r>
          </a:p>
          <a:p>
            <a:pPr algn="just"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 performance of Random Forest (existing system)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(proposed system).</a:t>
            </a:r>
          </a:p>
          <a:p>
            <a:pPr algn="just"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stacking classifier for improved predictions.</a:t>
            </a:r>
          </a:p>
          <a:p>
            <a:pPr algn="just"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users to test transactions through a prediction interface.</a:t>
            </a:r>
          </a:p>
          <a:p>
            <a:pPr algn="just"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full pipeline: upload → preprocess → train → evaluate → predict.</a:t>
            </a:r>
          </a:p>
        </p:txBody>
      </p:sp>
    </p:spTree>
    <p:extLst>
      <p:ext uri="{BB962C8B-B14F-4D97-AF65-F5344CB8AC3E}">
        <p14:creationId xmlns:p14="http://schemas.microsoft.com/office/powerpoint/2010/main" val="91161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4B6F-1E5C-05DD-8EAC-9681446701F7}"/>
              </a:ext>
            </a:extLst>
          </p:cNvPr>
          <p:cNvSpPr>
            <a:spLocks noGrp="1"/>
          </p:cNvSpPr>
          <p:nvPr>
            <p:ph type="title"/>
          </p:nvPr>
        </p:nvSpPr>
        <p:spPr/>
        <p:txBody>
          <a:bodyPr/>
          <a:lstStyle/>
          <a:p>
            <a:r>
              <a:rPr lang="en-IN" dirty="0"/>
              <a:t>System Architecture</a:t>
            </a:r>
          </a:p>
        </p:txBody>
      </p:sp>
      <p:pic>
        <p:nvPicPr>
          <p:cNvPr id="5" name="Picture 4">
            <a:extLst>
              <a:ext uri="{FF2B5EF4-FFF2-40B4-BE49-F238E27FC236}">
                <a16:creationId xmlns:a16="http://schemas.microsoft.com/office/drawing/2014/main" id="{6F345C56-478E-5154-E207-C5B6A7F84FDF}"/>
              </a:ext>
            </a:extLst>
          </p:cNvPr>
          <p:cNvPicPr>
            <a:picLocks noChangeAspect="1"/>
          </p:cNvPicPr>
          <p:nvPr/>
        </p:nvPicPr>
        <p:blipFill>
          <a:blip r:embed="rId2"/>
          <a:stretch>
            <a:fillRect/>
          </a:stretch>
        </p:blipFill>
        <p:spPr>
          <a:xfrm>
            <a:off x="2615380" y="2333810"/>
            <a:ext cx="6607278" cy="2819644"/>
          </a:xfrm>
          <a:prstGeom prst="rect">
            <a:avLst/>
          </a:prstGeom>
        </p:spPr>
      </p:pic>
    </p:spTree>
    <p:extLst>
      <p:ext uri="{BB962C8B-B14F-4D97-AF65-F5344CB8AC3E}">
        <p14:creationId xmlns:p14="http://schemas.microsoft.com/office/powerpoint/2010/main" val="4259117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228A14-684A-B88B-F20C-1F22F10F05BD}"/>
              </a:ext>
            </a:extLst>
          </p:cNvPr>
          <p:cNvSpPr txBox="1"/>
          <p:nvPr/>
        </p:nvSpPr>
        <p:spPr>
          <a:xfrm>
            <a:off x="521110" y="540774"/>
            <a:ext cx="8622890" cy="4446730"/>
          </a:xfrm>
          <a:prstGeom prst="rect">
            <a:avLst/>
          </a:prstGeom>
          <a:noFill/>
        </p:spPr>
        <p:txBody>
          <a:bodyPr wrap="square">
            <a:spAutoFit/>
          </a:bodyPr>
          <a:lstStyle/>
          <a:p>
            <a:pPr algn="just">
              <a:lnSpc>
                <a:spcPct val="200000"/>
              </a:lnSpc>
              <a:buFont typeface="Arial" panose="020B0604020202020204" pitchFamily="34" charset="0"/>
              <a:buChar char="•"/>
            </a:pPr>
            <a:r>
              <a:rPr lang="en-IN" dirty="0"/>
              <a:t>Dataset Upload</a:t>
            </a:r>
          </a:p>
          <a:p>
            <a:pPr algn="just">
              <a:lnSpc>
                <a:spcPct val="200000"/>
              </a:lnSpc>
              <a:buFont typeface="Arial" panose="020B0604020202020204" pitchFamily="34" charset="0"/>
              <a:buChar char="•"/>
            </a:pPr>
            <a:r>
              <a:rPr lang="en-IN" dirty="0"/>
              <a:t>Data Preprocessing</a:t>
            </a:r>
          </a:p>
          <a:p>
            <a:pPr algn="just">
              <a:lnSpc>
                <a:spcPct val="200000"/>
              </a:lnSpc>
              <a:buFont typeface="Arial" panose="020B0604020202020204" pitchFamily="34" charset="0"/>
              <a:buChar char="•"/>
            </a:pPr>
            <a:r>
              <a:rPr lang="en-IN" dirty="0"/>
              <a:t>Train/Test Split</a:t>
            </a:r>
          </a:p>
          <a:p>
            <a:pPr algn="just">
              <a:lnSpc>
                <a:spcPct val="200000"/>
              </a:lnSpc>
              <a:buFont typeface="Arial" panose="020B0604020202020204" pitchFamily="34" charset="0"/>
              <a:buChar char="•"/>
            </a:pPr>
            <a:r>
              <a:rPr lang="en-IN" dirty="0"/>
              <a:t>ML Training (</a:t>
            </a:r>
            <a:r>
              <a:rPr lang="en-IN" dirty="0" err="1"/>
              <a:t>XGBoost</a:t>
            </a:r>
            <a:r>
              <a:rPr lang="en-IN" dirty="0"/>
              <a:t>, Random Forest, Stacking)</a:t>
            </a:r>
          </a:p>
          <a:p>
            <a:pPr algn="just">
              <a:lnSpc>
                <a:spcPct val="200000"/>
              </a:lnSpc>
              <a:buFont typeface="Arial" panose="020B0604020202020204" pitchFamily="34" charset="0"/>
              <a:buChar char="•"/>
            </a:pPr>
            <a:r>
              <a:rPr lang="en-IN" dirty="0"/>
              <a:t>Model Saving and Loading</a:t>
            </a:r>
          </a:p>
          <a:p>
            <a:pPr algn="just">
              <a:lnSpc>
                <a:spcPct val="200000"/>
              </a:lnSpc>
              <a:buFont typeface="Arial" panose="020B0604020202020204" pitchFamily="34" charset="0"/>
              <a:buChar char="•"/>
            </a:pPr>
            <a:r>
              <a:rPr lang="en-IN" dirty="0"/>
              <a:t>User Input &amp; Manual Encoding</a:t>
            </a:r>
          </a:p>
          <a:p>
            <a:pPr algn="just">
              <a:lnSpc>
                <a:spcPct val="200000"/>
              </a:lnSpc>
              <a:buFont typeface="Arial" panose="020B0604020202020204" pitchFamily="34" charset="0"/>
              <a:buChar char="•"/>
            </a:pPr>
            <a:r>
              <a:rPr lang="en-IN" dirty="0"/>
              <a:t>Fraud Prediction Output</a:t>
            </a:r>
          </a:p>
          <a:p>
            <a:pPr algn="just">
              <a:lnSpc>
                <a:spcPct val="200000"/>
              </a:lnSpc>
              <a:buFont typeface="Arial" panose="020B0604020202020204" pitchFamily="34" charset="0"/>
              <a:buChar char="•"/>
            </a:pPr>
            <a:r>
              <a:rPr lang="en-IN" dirty="0"/>
              <a:t>Django-based UI across admin and user levels</a:t>
            </a:r>
          </a:p>
        </p:txBody>
      </p:sp>
    </p:spTree>
    <p:extLst>
      <p:ext uri="{BB962C8B-B14F-4D97-AF65-F5344CB8AC3E}">
        <p14:creationId xmlns:p14="http://schemas.microsoft.com/office/powerpoint/2010/main" val="1728388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6F6A-92C0-612C-EE2F-F39416158859}"/>
              </a:ext>
            </a:extLst>
          </p:cNvPr>
          <p:cNvSpPr>
            <a:spLocks noGrp="1"/>
          </p:cNvSpPr>
          <p:nvPr>
            <p:ph type="title"/>
          </p:nvPr>
        </p:nvSpPr>
        <p:spPr/>
        <p:txBody>
          <a:bodyPr/>
          <a:lstStyle/>
          <a:p>
            <a:r>
              <a:rPr lang="en-IN" dirty="0"/>
              <a:t>Modules 	</a:t>
            </a:r>
          </a:p>
        </p:txBody>
      </p:sp>
      <p:sp>
        <p:nvSpPr>
          <p:cNvPr id="3" name="Content Placeholder 2">
            <a:extLst>
              <a:ext uri="{FF2B5EF4-FFF2-40B4-BE49-F238E27FC236}">
                <a16:creationId xmlns:a16="http://schemas.microsoft.com/office/drawing/2014/main" id="{7C38D409-FB57-3A25-430C-E2CC1ABD0BDB}"/>
              </a:ext>
            </a:extLst>
          </p:cNvPr>
          <p:cNvSpPr>
            <a:spLocks noGrp="1"/>
          </p:cNvSpPr>
          <p:nvPr>
            <p:ph idx="1"/>
          </p:nvPr>
        </p:nvSpPr>
        <p:spPr/>
        <p:txBody>
          <a:bodyPr>
            <a:normAutofit/>
          </a:bodyPr>
          <a:lstStyle/>
          <a:p>
            <a:pPr>
              <a:lnSpc>
                <a:spcPct val="170000"/>
              </a:lnSpc>
            </a:pPr>
            <a:r>
              <a:rPr lang="en-IN" sz="2000" b="1" dirty="0">
                <a:latin typeface="Times New Roman" panose="02020603050405020304" pitchFamily="18" charset="0"/>
                <a:cs typeface="Times New Roman" panose="02020603050405020304" pitchFamily="18" charset="0"/>
              </a:rPr>
              <a:t>1. Authentication Module</a:t>
            </a:r>
            <a:r>
              <a:rPr lang="en-IN" sz="2000" dirty="0">
                <a:latin typeface="Times New Roman" panose="02020603050405020304" pitchFamily="18" charset="0"/>
                <a:cs typeface="Times New Roman" panose="02020603050405020304" pitchFamily="18" charset="0"/>
              </a:rPr>
              <a:t> — Admin &amp; User login</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2. Dataset Module</a:t>
            </a:r>
            <a:r>
              <a:rPr lang="en-IN" sz="2000" dirty="0">
                <a:latin typeface="Times New Roman" panose="02020603050405020304" pitchFamily="18" charset="0"/>
                <a:cs typeface="Times New Roman" panose="02020603050405020304" pitchFamily="18" charset="0"/>
              </a:rPr>
              <a:t> — Upload and load CSV</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3. Preprocessing Module</a:t>
            </a:r>
            <a:r>
              <a:rPr lang="en-IN" sz="2000" dirty="0">
                <a:latin typeface="Times New Roman" panose="02020603050405020304" pitchFamily="18" charset="0"/>
                <a:cs typeface="Times New Roman" panose="02020603050405020304" pitchFamily="18" charset="0"/>
              </a:rPr>
              <a:t> — Clean, encode, visualize</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4. Split Module</a:t>
            </a:r>
            <a:r>
              <a:rPr lang="en-IN" sz="2000" dirty="0">
                <a:latin typeface="Times New Roman" panose="02020603050405020304" pitchFamily="18" charset="0"/>
                <a:cs typeface="Times New Roman" panose="02020603050405020304" pitchFamily="18" charset="0"/>
              </a:rPr>
              <a:t> — Train/Test division</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5. Training Module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&amp; Stacking</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6. Metrics Module</a:t>
            </a:r>
            <a:r>
              <a:rPr lang="en-IN" sz="2000" dirty="0">
                <a:latin typeface="Times New Roman" panose="02020603050405020304" pitchFamily="18" charset="0"/>
                <a:cs typeface="Times New Roman" panose="02020603050405020304" pitchFamily="18" charset="0"/>
              </a:rPr>
              <a:t> — Accuracy, Precision, Recall, F1, Confusion Matrix</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7. Prediction Module</a:t>
            </a:r>
            <a:r>
              <a:rPr lang="en-IN" sz="2000" dirty="0">
                <a:latin typeface="Times New Roman" panose="02020603050405020304" pitchFamily="18" charset="0"/>
                <a:cs typeface="Times New Roman" panose="02020603050405020304" pitchFamily="18" charset="0"/>
              </a:rPr>
              <a:t> — Input form + fraud classification</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8. Utility Module</a:t>
            </a:r>
            <a:r>
              <a:rPr lang="en-IN" sz="2000" dirty="0">
                <a:latin typeface="Times New Roman" panose="02020603050405020304" pitchFamily="18" charset="0"/>
                <a:cs typeface="Times New Roman" panose="02020603050405020304" pitchFamily="18" charset="0"/>
              </a:rPr>
              <a:t> — Label mapping, model storage</a:t>
            </a:r>
          </a:p>
        </p:txBody>
      </p:sp>
    </p:spTree>
    <p:extLst>
      <p:ext uri="{BB962C8B-B14F-4D97-AF65-F5344CB8AC3E}">
        <p14:creationId xmlns:p14="http://schemas.microsoft.com/office/powerpoint/2010/main" val="1702860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0BC8-546D-A77B-A888-42A53979F0C1}"/>
              </a:ext>
            </a:extLst>
          </p:cNvPr>
          <p:cNvSpPr>
            <a:spLocks noGrp="1"/>
          </p:cNvSpPr>
          <p:nvPr>
            <p:ph type="title"/>
          </p:nvPr>
        </p:nvSpPr>
        <p:spPr/>
        <p:txBody>
          <a:bodyPr/>
          <a:lstStyle/>
          <a:p>
            <a:r>
              <a:rPr lang="en-IN" b="1" dirty="0"/>
              <a:t>Existing System</a:t>
            </a:r>
            <a:endParaRPr lang="en-IN" dirty="0"/>
          </a:p>
        </p:txBody>
      </p:sp>
      <p:sp>
        <p:nvSpPr>
          <p:cNvPr id="3" name="Content Placeholder 2">
            <a:extLst>
              <a:ext uri="{FF2B5EF4-FFF2-40B4-BE49-F238E27FC236}">
                <a16:creationId xmlns:a16="http://schemas.microsoft.com/office/drawing/2014/main" id="{EA990ECC-5025-7B93-7522-41B27067B654}"/>
              </a:ext>
            </a:extLst>
          </p:cNvPr>
          <p:cNvSpPr>
            <a:spLocks noGrp="1"/>
          </p:cNvSpPr>
          <p:nvPr>
            <p:ph idx="1"/>
          </p:nvPr>
        </p:nvSpPr>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The existing fraud detection system relies primarily on the </a:t>
            </a:r>
            <a:r>
              <a:rPr lang="en-US" sz="1800" b="1" dirty="0">
                <a:latin typeface="Times New Roman" panose="02020603050405020304" pitchFamily="18" charset="0"/>
                <a:cs typeface="Times New Roman" panose="02020603050405020304" pitchFamily="18" charset="0"/>
              </a:rPr>
              <a:t>Random Forest algorithm</a:t>
            </a:r>
            <a:r>
              <a:rPr lang="en-US" sz="1800" dirty="0">
                <a:latin typeface="Times New Roman" panose="02020603050405020304" pitchFamily="18" charset="0"/>
                <a:cs typeface="Times New Roman" panose="02020603050405020304" pitchFamily="18" charset="0"/>
              </a:rPr>
              <a:t>, which functions as a baseline machine learning model for classifying e-commerce transactions. Random Forest combines multiple decision trees to reduce variance and improve prediction stability. While it performs reasonably well on structured tabular data, its effectiveness decreases when handling </a:t>
            </a:r>
            <a:r>
              <a:rPr lang="en-US" sz="1800" b="1" dirty="0">
                <a:latin typeface="Times New Roman" panose="02020603050405020304" pitchFamily="18" charset="0"/>
                <a:cs typeface="Times New Roman" panose="02020603050405020304" pitchFamily="18" charset="0"/>
              </a:rPr>
              <a:t>highly imbalanced datasets</a:t>
            </a:r>
            <a:r>
              <a:rPr lang="en-US" sz="1800" dirty="0">
                <a:latin typeface="Times New Roman" panose="02020603050405020304" pitchFamily="18" charset="0"/>
                <a:cs typeface="Times New Roman" panose="02020603050405020304" pitchFamily="18" charset="0"/>
              </a:rPr>
              <a:t>, where fraudulent transactions form only a small portion of the data. The model lacks the boosting mechanism required to refine weak learners, making it less capable of detecting rare and complex fraud categories such as synthetic accounts, promotion abuse, and identity theft. Additionally, Random Forest does not adapt efficiently to evolving fraud patterns and often results in higher false positives and false negatives. Due to these limitations, the existing system struggles to provide accurate multi-type fraud classification in dynamic e-commerce environments.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096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19BAD-D8C5-9736-3440-B9248867E5FB}"/>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46F7D447-D65D-BB6D-CBA4-717BB361A82D}"/>
              </a:ext>
            </a:extLst>
          </p:cNvPr>
          <p:cNvSpPr>
            <a:spLocks noGrp="1"/>
          </p:cNvSpPr>
          <p:nvPr>
            <p:ph idx="1"/>
          </p:nvPr>
        </p:nvSpPr>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system introduces a more advanced and scalable fraud detection approach using </a:t>
            </a:r>
            <a:r>
              <a:rPr lang="en-US" sz="1800" b="1"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and an optional </a:t>
            </a:r>
            <a:r>
              <a:rPr lang="en-US" sz="1800" b="1" dirty="0">
                <a:latin typeface="Times New Roman" panose="02020603050405020304" pitchFamily="18" charset="0"/>
                <a:cs typeface="Times New Roman" panose="02020603050405020304" pitchFamily="18" charset="0"/>
              </a:rPr>
              <a:t>stacking ensemble model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(Extreme Gradient Boosting) improves classification accuracy by training trees sequentially, where each new tree corrects the errors of previous ones. It handles non-linear patterns, noisy features, and imbalanced data more effectively than Random Forest. The system further incorporates </a:t>
            </a:r>
            <a:r>
              <a:rPr lang="en-US" sz="1800" b="1" dirty="0">
                <a:latin typeface="Times New Roman" panose="02020603050405020304" pitchFamily="18" charset="0"/>
                <a:cs typeface="Times New Roman" panose="02020603050405020304" pitchFamily="18" charset="0"/>
              </a:rPr>
              <a:t>statistical anomaly handling</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manual feature encoding</a:t>
            </a:r>
            <a:r>
              <a:rPr lang="en-US" sz="1800" dirty="0">
                <a:latin typeface="Times New Roman" panose="02020603050405020304" pitchFamily="18" charset="0"/>
                <a:cs typeface="Times New Roman" panose="02020603050405020304" pitchFamily="18" charset="0"/>
              </a:rPr>
              <a:t>, ensuring consistent preprocessing across training and real-time predictions. A stacking classifier, combining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Random Forest, and Decision Tree with Logistic Regression as the meta-learner, enhances model robustness and multi-type detection capability. The proposed system significantly improves precision, recall, and F1-score across all fraud categories, including rare ones. This results in a reliable, intelligent, and adaptive solution suitable for large-scale, real-time fraud detection in e-commerce platforms.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5133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BC3E5-E42F-412D-E36A-8F3074B3FFE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CD8E49B9-DAED-8F8C-F0EF-CC710B335E47}"/>
              </a:ext>
            </a:extLst>
          </p:cNvPr>
          <p:cNvSpPr>
            <a:spLocks noGrp="1"/>
          </p:cNvSpPr>
          <p:nvPr>
            <p:ph idx="1"/>
          </p:nvPr>
        </p:nvSpPr>
        <p:spPr/>
        <p:txBody>
          <a:bodyPr>
            <a:normAutofit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multitype fraud detection system effectively enhances the accuracy, reliability, and scalability of identifying fraudulent activities within e-commerce transactions. By overcoming the limitations of the existing Random Forest model, the integration of advanced algorithms such as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and the stacking ensemble significantly improves the classification performance across diverse fraud categories. The system’s end-to-end workflow—covering dataset upload, preprocessing, model training, evaluation, and real-time prediction—ensures a practical and automated approach to fraud detection. Experimental results demonstrate superior precision, recall, and F1-scores for the proposed models, particularly in detecting rare and complex fraud types. The incorporation of statistical handling, feature engineering, and a user-friendly interface further strengthens the model’s applicability in real-world e-commerce environments. Overall, this project delivers a robust and intelligent fraud detection framework capable of adapting to evolving fraud patterns and providing strong protection for digital marketplaces.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295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ecommerce1</Template>
  <TotalTime>0</TotalTime>
  <Words>991</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MULTITYPE FRAUD DETECTION IN E-COMMERCE TRANSACTIONS USING MACHINE LEARNING</vt:lpstr>
      <vt:lpstr>ABSTRACT </vt:lpstr>
      <vt:lpstr>Introduction</vt:lpstr>
      <vt:lpstr>Problem Statement</vt:lpstr>
      <vt:lpstr>Objectives</vt:lpstr>
      <vt:lpstr>System Architecture</vt:lpstr>
      <vt:lpstr>PowerPoint Presentation</vt:lpstr>
      <vt:lpstr>Modules  </vt:lpstr>
      <vt:lpstr>Existing System</vt:lpstr>
      <vt:lpstr>Proposed System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Krishna</dc:creator>
  <cp:lastModifiedBy>Hari Krishna</cp:lastModifiedBy>
  <cp:revision>1</cp:revision>
  <dcterms:created xsi:type="dcterms:W3CDTF">2025-12-10T09:59:22Z</dcterms:created>
  <dcterms:modified xsi:type="dcterms:W3CDTF">2025-12-10T09:59:35Z</dcterms:modified>
</cp:coreProperties>
</file>